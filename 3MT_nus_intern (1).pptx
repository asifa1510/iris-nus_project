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D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2:1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24575,'16'279'0,"0"10"0,-17 697-1365,1-961-5461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2:20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24575,'2'0'0,"1"0"0,0 1 0,-1 0 0,1 0 0,-1 0 0,1 0 0,-1 0 0,1 0 0,-1 1 0,0-1 0,0 1 0,0-1 0,2 3 0,30 30 0,-20-20 0,10 13 0,-2 0 0,-1 2 0,34 60 0,-29-46 0,31 41 0,-39-60 0,-15-17 0,1-1 0,0 0 0,1 0 0,0 0 0,0-1 0,0 1 0,0-1 0,13 8 0,-17-12 0,1-1 0,-1 1 0,0-1 0,1 0 0,-1 1 0,1-1 0,0 0 0,-1 0 0,1 0 0,-1 0 0,1 0 0,-1-1 0,1 1 0,-1 0 0,1-1 0,-1 1 0,0-1 0,1 1 0,-1-1 0,0 0 0,1 0 0,-1 1 0,0-1 0,0 0 0,1 0 0,1-2 0,26-36 0,-24 31 0,41-68 0,-3-3 0,61-155 0,-87 185-682,13-66-1,-25 90-6143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2:35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21389,'0'1456'0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2:42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24575,'3'1'0,"0"-1"0,0 1 0,0 0 0,0 1 0,-1-1 0,1 0 0,0 1 0,-1 0 0,1-1 0,-1 1 0,0 0 0,3 3 0,25 28 0,-3 15 0,-20-34 0,0 0 0,2-1 0,-1 0 0,12 12 0,14 17 0,-2 0 0,32 57 0,-37-55 0,2-1 0,54 62 0,-81-103 0,-1 0 0,1-1 0,0 1 0,0 0 0,1-1 0,-1 0 0,0 1 0,0-1 0,1 0 0,-1 0 0,1 0 0,-1 0 0,1-1 0,-1 1 0,1-1 0,-1 1 0,1-1 0,0 0 0,-1 0 0,1 0 0,0 0 0,-1-1 0,1 1 0,-1-1 0,1 1 0,-1-1 0,1 0 0,-1 0 0,1 0 0,-1 0 0,0-1 0,0 1 0,0-1 0,1 1 0,-1-1 0,2-2 0,5-5 0,1 0 0,-2 0 0,1-1 0,-2 0 0,1-1 0,7-14 0,0-7 0,-1-1 0,-2 0 0,-1-1 0,-2 0 0,-1-1 0,5-55 0,-11 57-1365,0 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6:48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6:55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23329,'92'1518'0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06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24329,'92'1424'0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10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23039,'30'1673'0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1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24575,'1'3'0,"0"0"0,0 0 0,0 0 0,1 0 0,-1 0 0,1-1 0,-1 1 0,1-1 0,0 1 0,0-1 0,0 0 0,0 1 0,5 3 0,2 2 0,45 48 0,-29-32 0,-2 1 0,31 42 0,-27-30 0,-16-21 0,0 0 0,0 0 0,11 26 0,7 15 0,5 10 0,-33-64 0,0 0 0,0 0 0,0 0 0,0-1 0,1 1 0,-1 0 0,1-1 0,0 1 0,0-1 0,0 1 0,0-1 0,0 0 0,0 0 0,1 0 0,-1 0 0,1-1 0,-1 1 0,1 0 0,0-1 0,3 2 0,-2-3 0,0 1 0,0-1 0,0 1 0,0-1 0,0 0 0,0-1 0,0 1 0,0-1 0,0 0 0,0 0 0,0 0 0,0 0 0,5-3 0,6-3 0,-1-1 0,-1-1 0,0 0 0,0-1 0,-1 0 0,18-19 0,-22 19 0,0-1 0,0 0 0,-1-1 0,-1 1 0,8-19 0,-7 15 0,0 0 0,1 1 0,11-16 0,-5 11 0,-1-1 0,-1-1 0,0 0 0,-2-1 0,0 0 0,-2-1 0,10-38 0,-10 35-1365,1 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18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1 419 24575,'19'2'0,"1"1"0,-1 1 0,0 1 0,0 0 0,0 1 0,28 14 0,-7-4 0,21 5 0,-38-14 0,-1 1 0,1 1 0,-1 1 0,31 19 0,-9-1 0,-22-15 0,32 25 0,-48-32 0,1 0 0,-1 0 0,0 0 0,-1 1 0,0 0 0,0 0 0,0 0 0,6 13 0,-10-16 0,1 0 0,0 0 0,0 0 0,0 0 0,0 0 0,1 0 0,0-1 0,0 1 0,5 4 0,-7-7 0,1 0 0,0-1 0,-1 1 0,1-1 0,-1 1 0,1-1 0,0 0 0,0 1 0,-1-1 0,1 0 0,0 0 0,-1 0 0,1 0 0,0 0 0,0-1 0,-1 1 0,1-1 0,0 1 0,-1-1 0,1 1 0,-1-1 0,1 0 0,-1 0 0,1 0 0,-1 0 0,1 0 0,-1 0 0,2-2 0,11-8 0,-1-1 0,-1 0 0,0-1 0,0 0 0,-2 0 0,15-24 0,45-95 0,-50 86 0,-3 0 0,-2-2 0,17-90 0,-21 94 0,16-42 0,-3 12 0,-23 73 8,-1 0 0,0 0 0,1-1 0,-1 1 0,0 0 0,0-1 0,0 1 0,0 0 0,0-1 0,0 1 0,0 0 0,0-1 0,-1 1-1,0-3 1,1 4-43,0 0 0,-1 0-1,1-1 1,-1 1 0,1 0-1,0 0 1,-1 0 0,1-1-1,-1 1 1,1 0 0,-1 0-1,1 0 1,-1 0 0,1 0-1,-1 0 1,1 0 0,0 0-1,-1 0 1,1 0 0,-1 0-1,1 0 1,-1 0-1,1 0 1,-1 1 0,1-1-1,-1 0 1,1 0 0,0 0-1,-1 1 1,1-1 0,0 0-1,-1 1 1,1-1 0,0 0-1,-1 1 1,1-1 0,0 0-1,-1 1 1,1-1 0,0 1-1,-1 0 1,-8 9-6791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22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30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27:33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24575,'1'3'0,"-1"0"0,1 0 0,0 0 0,0 0 0,0-1 0,0 1 0,1 0 0,-1-1 0,1 1 0,0 0 0,0-1 0,-1 0 0,1 0 0,1 1 0,3 2 0,37 27 0,-7-9 0,-22-15 0,0 1 0,0 0 0,-1 1 0,0 1 0,-1 0 0,12 14 0,104 139 0,-108-136 0,-10-13 0,1 0 0,0-1 0,2 0 0,25 24 0,-36-36 0,1 0 0,-1-1 0,1 1 0,-1 0 0,1-1 0,0 1 0,-1-1 0,1 0 0,0 0 0,0 0 0,0-1 0,0 1 0,0 0 0,0-1 0,0 0 0,0 0 0,0 0 0,0 0 0,0 0 0,0-1 0,0 1 0,0-1 0,0 0 0,0 0 0,0 0 0,-1 0 0,1 0 0,0-1 0,-1 1 0,1-1 0,-1 0 0,1 0 0,-1 0 0,0 0 0,0 0 0,3-3 0,2-5 0,0-1 0,0 0 0,-1 0 0,0 0 0,-1-1 0,-1 0 0,7-23 0,9-23 0,12-27 0,9-18 0,-25 61 0,-11 30 0,-1 1 0,1-1 0,1 1 0,7-11 0,9-17-1365,-14 21-5461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16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3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1632" y="347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4B5563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4572"/>
          </a:xfrm>
          <a:prstGeom prst="rect">
            <a:avLst/>
          </a:prstGeom>
          <a:solidFill>
            <a:srgbClr val="1FD0F3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278" y="1940158"/>
            <a:ext cx="85039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sz="3500" dirty="0"/>
              <a:t>Physics-Informed Hidden Regime Discovery</a:t>
            </a:r>
            <a:br>
              <a:rPr sz="3500" dirty="0"/>
            </a:br>
            <a:r>
              <a:rPr sz="3500" dirty="0"/>
              <a:t>and Local Symbolic Law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278" y="3283492"/>
            <a:ext cx="735787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50" b="1">
                <a:solidFill>
                  <a:srgbClr val="146C94"/>
                </a:solidFill>
                <a:latin typeface="Aptos"/>
              </a:defRPr>
            </a:pPr>
            <a:r>
              <a:rPr sz="2500" dirty="0"/>
              <a:t>for Semi</a:t>
            </a:r>
            <a:r>
              <a:rPr lang="en-IN" sz="2500" dirty="0"/>
              <a:t>-</a:t>
            </a:r>
            <a:r>
              <a:rPr sz="2500" dirty="0"/>
              <a:t>batch Polymerization Reactors</a:t>
            </a:r>
          </a:p>
        </p:txBody>
      </p:sp>
      <p:sp>
        <p:nvSpPr>
          <p:cNvPr id="12" name="Rectangle 11"/>
          <p:cNvSpPr/>
          <p:nvPr/>
        </p:nvSpPr>
        <p:spPr>
          <a:xfrm flipV="1">
            <a:off x="566928" y="4054857"/>
            <a:ext cx="11061701" cy="72369"/>
          </a:xfrm>
          <a:prstGeom prst="rect">
            <a:avLst/>
          </a:prstGeom>
          <a:solidFill>
            <a:srgbClr val="1FD0F3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3278" y="4291097"/>
            <a:ext cx="5410899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Aptos"/>
              </a:defRPr>
            </a:pPr>
            <a:r>
              <a:rPr sz="1900" dirty="0"/>
              <a:t>S ASIFA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278" y="4635499"/>
            <a:ext cx="673912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60" b="0">
                <a:solidFill>
                  <a:srgbClr val="4B5563"/>
                </a:solidFill>
                <a:latin typeface="Aptos"/>
              </a:defRPr>
            </a:pPr>
            <a:r>
              <a:rPr sz="1600" dirty="0"/>
              <a:t>College of Design &amp; Engineering</a:t>
            </a:r>
            <a:br>
              <a:rPr sz="1600" dirty="0"/>
            </a:br>
            <a:r>
              <a:rPr sz="1600" dirty="0"/>
              <a:t>Chemical &amp; Biomolecular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78" y="5111383"/>
            <a:ext cx="60416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60" b="1">
                <a:solidFill>
                  <a:srgbClr val="146C94"/>
                </a:solidFill>
                <a:latin typeface="Aptos"/>
              </a:defRPr>
            </a:pPr>
            <a:r>
              <a:rPr sz="1600" dirty="0"/>
              <a:t>Project Advisor: Assoc Prof. Lakshminarayanan </a:t>
            </a:r>
            <a:r>
              <a:rPr sz="1600" dirty="0" err="1"/>
              <a:t>Samavedham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06CC2-6057-C340-1A3C-F28060C9279C}"/>
              </a:ext>
            </a:extLst>
          </p:cNvPr>
          <p:cNvSpPr txBox="1"/>
          <p:nvPr/>
        </p:nvSpPr>
        <p:spPr>
          <a:xfrm>
            <a:off x="3022447" y="977333"/>
            <a:ext cx="6146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146C94"/>
                </a:solidFill>
                <a:latin typeface="Aptos"/>
              </a:defRPr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National University of Singapore </a:t>
            </a:r>
          </a:p>
          <a:p>
            <a:pPr algn="ctr">
              <a:defRPr sz="1550" b="1">
                <a:solidFill>
                  <a:srgbClr val="146C94"/>
                </a:solidFill>
                <a:latin typeface="Aptos"/>
              </a:defRPr>
            </a:pPr>
            <a:r>
              <a:rPr lang="en-IN" sz="2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IRIS 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1">
                <a:solidFill>
                  <a:srgbClr val="F97316"/>
                </a:solidFill>
                <a:latin typeface="Aptos"/>
              </a:defRPr>
            </a:pPr>
            <a:r>
              <a:t>INTRODUCTION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347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4B5563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4572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546382"/>
            <a:ext cx="818387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IN" sz="2700" b="1" dirty="0"/>
              <a:t>Problem Statement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45214" y="941539"/>
            <a:ext cx="7737630" cy="28300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82799" y="1112423"/>
            <a:ext cx="7062460" cy="2877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30" b="0">
                <a:solidFill>
                  <a:srgbClr val="111827"/>
                </a:solidFill>
                <a:latin typeface="Aptos"/>
              </a:defRPr>
            </a:pPr>
            <a:r>
              <a:rPr lang="en-IN" sz="1700" dirty="0"/>
              <a:t>A nonlinear chemical reactor </a:t>
            </a:r>
            <a:r>
              <a:rPr lang="en-IN" sz="1700" b="1" dirty="0"/>
              <a:t>should not be modelled using a single global equation</a:t>
            </a:r>
            <a:r>
              <a:rPr lang="en-IN" sz="1700" dirty="0"/>
              <a:t>, because its </a:t>
            </a:r>
            <a:r>
              <a:rPr lang="en-IN" sz="1700" b="1" dirty="0"/>
              <a:t>behaviour changes across different operating regions</a:t>
            </a:r>
            <a:r>
              <a:rPr lang="en-IN" sz="1700" dirty="0"/>
              <a:t>. In semi batch polymerization, the reactor passes through </a:t>
            </a:r>
            <a:r>
              <a:rPr lang="en-IN" sz="1700" b="1" dirty="0">
                <a:highlight>
                  <a:srgbClr val="FFFF00"/>
                </a:highlight>
              </a:rPr>
              <a:t>heat-up, monomer feeding, active reaction, cooling, viscosity growth, and hold stages</a:t>
            </a:r>
            <a:r>
              <a:rPr lang="en-IN" sz="1700" dirty="0"/>
              <a:t>. Each stage follows different local dynamics, and these </a:t>
            </a:r>
            <a:r>
              <a:rPr lang="en-IN" sz="1700" b="1" dirty="0"/>
              <a:t>hidden changes can be blurred when the entire reactor is forced into one global model</a:t>
            </a:r>
            <a:r>
              <a:rPr lang="en-IN" sz="1700" dirty="0"/>
              <a:t>. Therefore, this work first discovers hidden reactor regimes and then learns separate symbolic laws within each regime.</a:t>
            </a:r>
          </a:p>
          <a:p>
            <a:pPr>
              <a:defRPr sz="1230" b="0">
                <a:solidFill>
                  <a:srgbClr val="111827"/>
                </a:solidFill>
                <a:latin typeface="Aptos"/>
              </a:defRPr>
            </a:pPr>
            <a:r>
              <a:rPr lang="en-US" sz="1700" dirty="0"/>
              <a:t>Therefore, the reactor could have hidden local behaviors, not one simple behavior.</a:t>
            </a:r>
          </a:p>
          <a:p>
            <a:pPr>
              <a:defRPr sz="1230" b="0">
                <a:solidFill>
                  <a:srgbClr val="111827"/>
                </a:solidFill>
                <a:latin typeface="Aptos"/>
              </a:defRPr>
            </a:pPr>
            <a:endParaRPr sz="1700" dirty="0"/>
          </a:p>
        </p:txBody>
      </p:sp>
      <p:sp>
        <p:nvSpPr>
          <p:cNvPr id="22" name="Rounded Rectangle 21"/>
          <p:cNvSpPr/>
          <p:nvPr/>
        </p:nvSpPr>
        <p:spPr>
          <a:xfrm>
            <a:off x="8321040" y="546382"/>
            <a:ext cx="3730752" cy="5760664"/>
          </a:xfrm>
          <a:prstGeom prst="roundRect">
            <a:avLst>
              <a:gd name="adj" fmla="val 18119"/>
            </a:avLst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1">
            <a:extLst>
              <a:ext uri="{FF2B5EF4-FFF2-40B4-BE49-F238E27FC236}">
                <a16:creationId xmlns:a16="http://schemas.microsoft.com/office/drawing/2014/main" id="{6FA7C906-B61F-A733-6499-D38CD677B6C8}"/>
              </a:ext>
            </a:extLst>
          </p:cNvPr>
          <p:cNvSpPr/>
          <p:nvPr/>
        </p:nvSpPr>
        <p:spPr>
          <a:xfrm>
            <a:off x="345214" y="4454237"/>
            <a:ext cx="7737630" cy="18573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0B53CE-A7A5-65A3-06C2-115BFC4A53C0}"/>
              </a:ext>
            </a:extLst>
          </p:cNvPr>
          <p:cNvSpPr txBox="1"/>
          <p:nvPr/>
        </p:nvSpPr>
        <p:spPr>
          <a:xfrm>
            <a:off x="682799" y="4672803"/>
            <a:ext cx="7062460" cy="1308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30" b="0">
                <a:solidFill>
                  <a:srgbClr val="111827"/>
                </a:solidFill>
                <a:latin typeface="Aptos"/>
              </a:defRPr>
            </a:pPr>
            <a:r>
              <a:rPr lang="en-IN" sz="1700" dirty="0"/>
              <a:t>The motivation is to </a:t>
            </a:r>
            <a:r>
              <a:rPr lang="en-IN" sz="1700" b="1" dirty="0">
                <a:highlight>
                  <a:srgbClr val="FFFF00"/>
                </a:highlight>
              </a:rPr>
              <a:t>build a physics-informed AI framework that discovers hidden operating regimes in the </a:t>
            </a:r>
            <a:r>
              <a:rPr lang="en-IN" sz="1700" b="1" dirty="0" err="1">
                <a:highlight>
                  <a:srgbClr val="FFFF00"/>
                </a:highlight>
              </a:rPr>
              <a:t>Chylla</a:t>
            </a:r>
            <a:r>
              <a:rPr lang="en-IN" sz="1700" b="1" dirty="0">
                <a:highlight>
                  <a:srgbClr val="FFFF00"/>
                </a:highlight>
              </a:rPr>
              <a:t>-Haase </a:t>
            </a:r>
            <a:r>
              <a:rPr lang="en-IN" sz="1700" b="1" dirty="0" err="1">
                <a:highlight>
                  <a:srgbClr val="FFFF00"/>
                </a:highlight>
              </a:rPr>
              <a:t>semibatch</a:t>
            </a:r>
            <a:r>
              <a:rPr lang="en-IN" sz="1700" b="1" dirty="0">
                <a:highlight>
                  <a:srgbClr val="FFFF00"/>
                </a:highlight>
              </a:rPr>
              <a:t> polymerization reactor</a:t>
            </a:r>
            <a:r>
              <a:rPr lang="en-IN" sz="1700" dirty="0"/>
              <a:t>. </a:t>
            </a:r>
            <a:r>
              <a:rPr lang="en-IN" sz="1700" b="1" dirty="0"/>
              <a:t>Instead of forcing the whole reactor into one global model, this work identifies local reactor behaviours </a:t>
            </a:r>
            <a:r>
              <a:rPr lang="en-IN" sz="1700" dirty="0"/>
              <a:t>and learns separate interpretable symbolic laws for each regime.</a:t>
            </a:r>
            <a:endParaRPr sz="1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F4FC1A-071D-EB02-6B18-4455C71CA524}"/>
              </a:ext>
            </a:extLst>
          </p:cNvPr>
          <p:cNvSpPr txBox="1"/>
          <p:nvPr/>
        </p:nvSpPr>
        <p:spPr>
          <a:xfrm>
            <a:off x="566927" y="3961183"/>
            <a:ext cx="818387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IN" sz="2700" b="1" dirty="0"/>
              <a:t>Motivation</a:t>
            </a:r>
            <a:endParaRPr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87D6BDD-DA2A-6F2C-417F-8D93D5A5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625" y="1009914"/>
            <a:ext cx="3188161" cy="5010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1632" y="347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4B5563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60665"/>
            <a:ext cx="11018520" cy="4572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749808"/>
            <a:ext cx="818387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IN" sz="2700" b="1" dirty="0"/>
              <a:t>Proposed Physics-Informed AI Framework</a:t>
            </a:r>
          </a:p>
          <a:p>
            <a:pPr algn="l">
              <a:defRPr sz="2700" b="1">
                <a:solidFill>
                  <a:srgbClr val="111827"/>
                </a:solidFill>
                <a:latin typeface="Aptos Display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7909560" cy="375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20" b="0">
                <a:solidFill>
                  <a:srgbClr val="4B5563"/>
                </a:solidFill>
                <a:latin typeface="Aptos"/>
              </a:defRPr>
            </a:pPr>
            <a:r>
              <a:rPr lang="en-IN" dirty="0"/>
              <a:t>.</a:t>
            </a:r>
            <a:r>
              <a:rPr lang="en-IN" sz="1220" dirty="0"/>
              <a:t> From reactor time-series data to hidden regimes and readable symbolic laws</a:t>
            </a:r>
          </a:p>
          <a:p>
            <a:pPr algn="l">
              <a:defRPr sz="1220" b="0">
                <a:solidFill>
                  <a:srgbClr val="4B5563"/>
                </a:solidFill>
                <a:latin typeface="Aptos"/>
              </a:defRPr>
            </a:pP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1313535" y="5917808"/>
            <a:ext cx="9564624" cy="585307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framework discovers when reactor behavior changes, then learns a separate symbolic law for each discovered state instead of stating one global equation.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F01367F-F8AD-94BB-E9E5-EBA442DE2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41" y="1488675"/>
            <a:ext cx="11155873" cy="1651781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8229BCAA-D386-0D7D-BD7C-14D9B102D83E}"/>
              </a:ext>
            </a:extLst>
          </p:cNvPr>
          <p:cNvGrpSpPr/>
          <p:nvPr/>
        </p:nvGrpSpPr>
        <p:grpSpPr>
          <a:xfrm>
            <a:off x="858407" y="3122385"/>
            <a:ext cx="244800" cy="631080"/>
            <a:chOff x="858407" y="3122385"/>
            <a:chExt cx="24480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34110B-8D89-083C-A33D-3778C45E5B0F}"/>
                    </a:ext>
                  </a:extLst>
                </p14:cNvPr>
                <p14:cNvContentPartPr/>
                <p14:nvPr/>
              </p14:nvContentPartPr>
              <p14:xfrm>
                <a:off x="936527" y="3122385"/>
                <a:ext cx="11880" cy="569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34110B-8D89-083C-A33D-3778C45E5B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0407" y="3116265"/>
                  <a:ext cx="241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59AFB5-251C-A69A-7E54-9C29A2B3C0ED}"/>
                    </a:ext>
                  </a:extLst>
                </p14:cNvPr>
                <p14:cNvContentPartPr/>
                <p14:nvPr/>
              </p14:nvContentPartPr>
              <p14:xfrm>
                <a:off x="858407" y="3523785"/>
                <a:ext cx="244800" cy="229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59AFB5-251C-A69A-7E54-9C29A2B3C0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2287" y="3517665"/>
                  <a:ext cx="257040" cy="24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7C280AF-CEA2-67C2-6341-9F771A384463}"/>
                  </a:ext>
                </a:extLst>
              </p14:cNvPr>
              <p14:cNvContentPartPr/>
              <p14:nvPr/>
            </p14:nvContentPartPr>
            <p14:xfrm>
              <a:off x="3847127" y="3099705"/>
              <a:ext cx="360" cy="524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7C280AF-CEA2-67C2-6341-9F771A3844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41007" y="3093585"/>
                <a:ext cx="1260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BE25312-6738-7591-4C07-CDC51E2B9D35}"/>
                  </a:ext>
                </a:extLst>
              </p14:cNvPr>
              <p14:cNvContentPartPr/>
              <p14:nvPr/>
            </p14:nvContentPartPr>
            <p14:xfrm>
              <a:off x="3746687" y="3501105"/>
              <a:ext cx="235800" cy="207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BE25312-6738-7591-4C07-CDC51E2B9D3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0567" y="3494985"/>
                <a:ext cx="248040" cy="219960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24F35A4D-742D-D2AC-1CB3-CA964D9A3BE9}"/>
              </a:ext>
            </a:extLst>
          </p:cNvPr>
          <p:cNvSpPr txBox="1"/>
          <p:nvPr/>
        </p:nvSpPr>
        <p:spPr>
          <a:xfrm>
            <a:off x="446048" y="3772681"/>
            <a:ext cx="22068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Generates realistic </a:t>
            </a:r>
            <a:r>
              <a:rPr lang="en-US" sz="1600" b="1" dirty="0" err="1"/>
              <a:t>Chylla</a:t>
            </a:r>
            <a:r>
              <a:rPr lang="en-US" sz="1600" b="1" dirty="0"/>
              <a:t>–Haase reactor trajectories </a:t>
            </a:r>
            <a:r>
              <a:rPr lang="en-US" sz="1600" dirty="0"/>
              <a:t>using energy balance, mass balance, reaction heat, cooling, and valve dynamics.</a:t>
            </a:r>
            <a:endParaRPr lang="en-IN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0C021A-B05B-57E6-4470-103B30184287}"/>
              </a:ext>
            </a:extLst>
          </p:cNvPr>
          <p:cNvSpPr txBox="1"/>
          <p:nvPr/>
        </p:nvSpPr>
        <p:spPr>
          <a:xfrm>
            <a:off x="2879066" y="3753465"/>
            <a:ext cx="22068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Uses </a:t>
            </a:r>
            <a:r>
              <a:rPr lang="en-US" sz="1600" b="1" dirty="0"/>
              <a:t>sliding windows to learn how reactor behavior evolves over time</a:t>
            </a:r>
            <a:r>
              <a:rPr lang="en-US" sz="1600" dirty="0"/>
              <a:t>, capturing coupled changes in reaction heat, viscosity, temperature, and cooling.</a:t>
            </a:r>
            <a:endParaRPr lang="en-IN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9522CC0-3D4E-A537-7C29-28D0C6F4AC6B}"/>
                  </a:ext>
                </a:extLst>
              </p14:cNvPr>
              <p14:cNvContentPartPr/>
              <p14:nvPr/>
            </p14:nvContentPartPr>
            <p14:xfrm>
              <a:off x="-869953" y="5854065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9522CC0-3D4E-A537-7C29-28D0C6F4AC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876073" y="58479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668291D-3658-70B5-ADBF-A5369A5DCA65}"/>
                  </a:ext>
                </a:extLst>
              </p14:cNvPr>
              <p14:cNvContentPartPr/>
              <p14:nvPr/>
            </p14:nvContentPartPr>
            <p14:xfrm>
              <a:off x="6210887" y="3055425"/>
              <a:ext cx="33840" cy="546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668291D-3658-70B5-ADBF-A5369A5DCA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04767" y="3049305"/>
                <a:ext cx="4608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84FC15F-5E5E-A6B3-655A-BF8B95BF2F64}"/>
                  </a:ext>
                </a:extLst>
              </p14:cNvPr>
              <p14:cNvContentPartPr/>
              <p14:nvPr/>
            </p14:nvContentPartPr>
            <p14:xfrm>
              <a:off x="8563847" y="3066585"/>
              <a:ext cx="33480" cy="512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84FC15F-5E5E-A6B3-655A-BF8B95BF2F6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57727" y="3060465"/>
                <a:ext cx="4572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94EC6D2-245D-4E00-B76E-54BA6AF4D389}"/>
                  </a:ext>
                </a:extLst>
              </p14:cNvPr>
              <p14:cNvContentPartPr/>
              <p14:nvPr/>
            </p14:nvContentPartPr>
            <p14:xfrm>
              <a:off x="10927967" y="3077385"/>
              <a:ext cx="11160" cy="602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94EC6D2-245D-4E00-B76E-54BA6AF4D38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921487" y="3071265"/>
                <a:ext cx="23400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81F5331-E9B2-FF6D-CAC6-C7118CF62683}"/>
                  </a:ext>
                </a:extLst>
              </p14:cNvPr>
              <p14:cNvContentPartPr/>
              <p14:nvPr/>
            </p14:nvContentPartPr>
            <p14:xfrm>
              <a:off x="6088487" y="3534945"/>
              <a:ext cx="273240" cy="188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81F5331-E9B2-FF6D-CAC6-C7118CF626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82367" y="3528825"/>
                <a:ext cx="2854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5598798-E847-C51C-6ACA-20CC615A4DD6}"/>
                  </a:ext>
                </a:extLst>
              </p14:cNvPr>
              <p14:cNvContentPartPr/>
              <p14:nvPr/>
            </p14:nvContentPartPr>
            <p14:xfrm>
              <a:off x="8441087" y="3384105"/>
              <a:ext cx="351000" cy="2746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5598798-E847-C51C-6ACA-20CC615A4DD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34967" y="3377985"/>
                <a:ext cx="3632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6B8C143-EC4E-CACC-317F-810A521C86EB}"/>
                  </a:ext>
                </a:extLst>
              </p14:cNvPr>
              <p14:cNvContentPartPr/>
              <p14:nvPr/>
            </p14:nvContentPartPr>
            <p14:xfrm>
              <a:off x="10872167" y="3657705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6B8C143-EC4E-CACC-317F-810A521C86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66047" y="365158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D2C3D50-F0EB-4C9A-FA75-8D7E53C8634C}"/>
                  </a:ext>
                </a:extLst>
              </p14:cNvPr>
              <p14:cNvContentPartPr/>
              <p14:nvPr/>
            </p14:nvContentPartPr>
            <p14:xfrm>
              <a:off x="10861007" y="3512265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D2C3D50-F0EB-4C9A-FA75-8D7E53C863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54887" y="35061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35F1976-108A-9904-CABE-53AD5CEBFBA2}"/>
                  </a:ext>
                </a:extLst>
              </p14:cNvPr>
              <p14:cNvContentPartPr/>
              <p14:nvPr/>
            </p14:nvContentPartPr>
            <p14:xfrm>
              <a:off x="10772087" y="3589665"/>
              <a:ext cx="277200" cy="199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35F1976-108A-9904-CABE-53AD5CEBFB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765967" y="3583545"/>
                <a:ext cx="289440" cy="21204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297D6377-58C9-A058-878A-019954772438}"/>
              </a:ext>
            </a:extLst>
          </p:cNvPr>
          <p:cNvSpPr txBox="1"/>
          <p:nvPr/>
        </p:nvSpPr>
        <p:spPr>
          <a:xfrm>
            <a:off x="5238307" y="3789465"/>
            <a:ext cx="22068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Clusters learned time-series embeddings using Gaussian Mixture Models, grouping similar reactor behaviors into eight hidden regimes without manual labels.</a:t>
            </a:r>
            <a:endParaRPr lang="en-IN" sz="16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0D2357-957B-2711-844F-954CB1A0CC3C}"/>
              </a:ext>
            </a:extLst>
          </p:cNvPr>
          <p:cNvSpPr txBox="1"/>
          <p:nvPr/>
        </p:nvSpPr>
        <p:spPr>
          <a:xfrm>
            <a:off x="7823725" y="3753465"/>
            <a:ext cx="22068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Applies </a:t>
            </a:r>
            <a:r>
              <a:rPr lang="en-US" sz="1600" b="1" dirty="0"/>
              <a:t>symbolic regression to derive readable local equations </a:t>
            </a:r>
            <a:r>
              <a:rPr lang="en-US" sz="1600" dirty="0"/>
              <a:t>that explain temperature-change dynamics within each discovered regime.</a:t>
            </a:r>
            <a:endParaRPr lang="en-IN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B7D0DF-5AE8-4AA1-559F-6BB839AF6432}"/>
              </a:ext>
            </a:extLst>
          </p:cNvPr>
          <p:cNvSpPr txBox="1"/>
          <p:nvPr/>
        </p:nvSpPr>
        <p:spPr>
          <a:xfrm>
            <a:off x="10088835" y="3856857"/>
            <a:ext cx="22068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Converts complex reactor data into </a:t>
            </a:r>
            <a:r>
              <a:rPr lang="en-US" sz="1600" b="1" dirty="0"/>
              <a:t>understandable operating states and physical laws instead of one global black-box model.</a:t>
            </a:r>
            <a:endParaRPr lang="en-IN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1632" y="347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4B5563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4572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571236"/>
            <a:ext cx="884800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IN" sz="2700" b="1" dirty="0"/>
              <a:t>Hidden Regime Discovery using the Proposed Framework</a:t>
            </a:r>
          </a:p>
          <a:p>
            <a:pPr algn="l">
              <a:defRPr sz="2700" b="1">
                <a:solidFill>
                  <a:srgbClr val="111827"/>
                </a:solidFill>
                <a:latin typeface="Aptos Display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66928" y="1007928"/>
            <a:ext cx="790956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20" b="0">
                <a:solidFill>
                  <a:srgbClr val="4B5563"/>
                </a:solidFill>
                <a:latin typeface="Aptos"/>
              </a:defRPr>
            </a:pPr>
            <a:r>
              <a:rPr lang="en-IN" sz="1220" dirty="0"/>
              <a:t>The model discovers reactor states that were not manually labelled.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731520" y="5326634"/>
            <a:ext cx="10040112" cy="5188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5468366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ptos"/>
              </a:defRPr>
            </a:pPr>
            <a:r>
              <a:rPr lang="en-US" dirty="0"/>
              <a:t>The discovered regimes are not random clusters — they represent physically different reactor operating states.</a:t>
            </a:r>
            <a:endParaRPr dirty="0"/>
          </a:p>
        </p:txBody>
      </p:sp>
      <p:pic>
        <p:nvPicPr>
          <p:cNvPr id="33" name="Image 0" descr="/mnt/data/clean_fingerprint.png">
            <a:extLst>
              <a:ext uri="{FF2B5EF4-FFF2-40B4-BE49-F238E27FC236}">
                <a16:creationId xmlns:a16="http://schemas.microsoft.com/office/drawing/2014/main" id="{0FB3F875-D2D2-5897-5B02-04AFB26DE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57" y="1328556"/>
            <a:ext cx="6213054" cy="341718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4B89B3C-1107-BD36-FE7F-E731471844C2}"/>
              </a:ext>
            </a:extLst>
          </p:cNvPr>
          <p:cNvSpPr txBox="1"/>
          <p:nvPr/>
        </p:nvSpPr>
        <p:spPr>
          <a:xfrm>
            <a:off x="243857" y="4779610"/>
            <a:ext cx="7865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Each row is a discovered regime; each column is a reactor physics feature.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12ABCA-E13E-9C44-325E-EFCF37BD368D}"/>
              </a:ext>
            </a:extLst>
          </p:cNvPr>
          <p:cNvSpPr txBox="1"/>
          <p:nvPr/>
        </p:nvSpPr>
        <p:spPr>
          <a:xfrm>
            <a:off x="6858000" y="1330218"/>
            <a:ext cx="44675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PI-</a:t>
            </a:r>
            <a:r>
              <a:rPr lang="en-IN" dirty="0" err="1"/>
              <a:t>MambaRegime</a:t>
            </a:r>
            <a:r>
              <a:rPr lang="en-IN" dirty="0"/>
              <a:t> discovered </a:t>
            </a:r>
            <a:r>
              <a:rPr lang="en-IN" b="1" dirty="0"/>
              <a:t>eight hidden regimes R0–R7</a:t>
            </a:r>
            <a:r>
              <a:rPr lang="en-IN" dirty="0"/>
              <a:t> from reactor time-series behaviour.</a:t>
            </a:r>
          </a:p>
          <a:p>
            <a:endParaRPr lang="en-IN" dirty="0"/>
          </a:p>
          <a:p>
            <a:r>
              <a:rPr lang="en-IN" b="1" dirty="0"/>
              <a:t>These regimes were not manually assigned. They emerged by clustering learned reactor embeddings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These regimes differ in physical features </a:t>
            </a:r>
            <a:r>
              <a:rPr lang="en-IN" dirty="0"/>
              <a:t>such as viscosity, heat-transfer coefficient U, feed rate, reaction heat, jacket heat, and temperature-change rate.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5B0F53-9779-6648-51DC-5D844CF51F43}"/>
              </a:ext>
            </a:extLst>
          </p:cNvPr>
          <p:cNvSpPr txBox="1"/>
          <p:nvPr/>
        </p:nvSpPr>
        <p:spPr>
          <a:xfrm>
            <a:off x="932687" y="5079748"/>
            <a:ext cx="464402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20" b="1">
                <a:solidFill>
                  <a:srgbClr val="146C94"/>
                </a:solidFill>
                <a:latin typeface="Aptos"/>
              </a:defRPr>
            </a:pPr>
            <a:r>
              <a:rPr sz="1600" dirty="0"/>
              <a:t>Regimes R0–R7 have distinct physics fingerprints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1632" y="347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4B5563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4572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749808"/>
            <a:ext cx="8595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IN" sz="2700" b="1" dirty="0"/>
              <a:t>Regime-Wise Symbolic Laws Outperform One Global Law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790956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20" b="0">
                <a:solidFill>
                  <a:srgbClr val="4B5563"/>
                </a:solidFill>
                <a:latin typeface="Aptos"/>
              </a:defRPr>
            </a:pPr>
            <a:r>
              <a:rPr lang="en-IN" sz="1220" dirty="0"/>
              <a:t>Separate local equations reduce prediction error across validation, test, and OOD conditions.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4983480" cy="3456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25312" y="1874519"/>
            <a:ext cx="5193792" cy="3456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lean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982" y="2143819"/>
            <a:ext cx="4617720" cy="27456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3912" y="496947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20" b="1">
                <a:solidFill>
                  <a:srgbClr val="146C94"/>
                </a:solidFill>
                <a:latin typeface="Aptos"/>
              </a:defRPr>
            </a:pPr>
            <a:r>
              <a:rPr dirty="0"/>
              <a:t>Regime-conditioned symbolic laws reduce RMSE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5212080"/>
            <a:ext cx="1627632" cy="5669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4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52852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Aptos"/>
              </a:defRPr>
            </a:pPr>
            <a:r>
              <a:t>43.4%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605272"/>
            <a:ext cx="14813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30" b="1">
                <a:solidFill>
                  <a:srgbClr val="111827"/>
                </a:solidFill>
                <a:latin typeface="Aptos"/>
              </a:defRPr>
            </a:pPr>
            <a:r>
              <a:rPr sz="1200" dirty="0"/>
              <a:t>lower TEST RMSE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212080"/>
            <a:ext cx="1627632" cy="5669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4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52852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Aptos"/>
              </a:defRPr>
            </a:pPr>
            <a:r>
              <a:t>17.6%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605272"/>
            <a:ext cx="14813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30" b="1">
                <a:solidFill>
                  <a:srgbClr val="111827"/>
                </a:solidFill>
                <a:latin typeface="Aptos"/>
              </a:defRPr>
            </a:pPr>
            <a:r>
              <a:rPr sz="1200" dirty="0"/>
              <a:t>lower OOD 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511" y="5961888"/>
            <a:ext cx="531176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30" b="1">
                <a:solidFill>
                  <a:srgbClr val="111827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Main inference: hidden regimes are not only physically meaningful — they improve predictive accuracy.</a:t>
            </a:r>
            <a:endParaRPr sz="1600" dirty="0">
              <a:highlight>
                <a:srgbClr val="FFFF00"/>
              </a:highligh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25312" y="6053328"/>
            <a:ext cx="51937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3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Lower RMSE = better prediction of reactor temperature-change rate.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7A773-07EE-7934-8ACC-BF1F3D6683A7}"/>
              </a:ext>
            </a:extLst>
          </p:cNvPr>
          <p:cNvSpPr txBox="1"/>
          <p:nvPr/>
        </p:nvSpPr>
        <p:spPr>
          <a:xfrm>
            <a:off x="7227710" y="1349849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RMSE = root mean square error.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9ED34C-BD8E-1A81-646C-A3FFD3D0440A}"/>
              </a:ext>
            </a:extLst>
          </p:cNvPr>
          <p:cNvSpPr txBox="1"/>
          <p:nvPr/>
        </p:nvSpPr>
        <p:spPr>
          <a:xfrm>
            <a:off x="1193518" y="2087972"/>
            <a:ext cx="671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did we compare?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42B318E-37A6-64BB-3DFE-9AD30C8A1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67" y="2041637"/>
            <a:ext cx="4617155" cy="31704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1">
                <a:solidFill>
                  <a:srgbClr val="F97316"/>
                </a:solidFill>
                <a:latin typeface="Aptos"/>
              </a:defRPr>
            </a:pPr>
            <a:r>
              <a:t>CONTRIBUTIONS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347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4B5563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4572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749808"/>
            <a:ext cx="818387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IN" dirty="0"/>
              <a:t>Contributions &amp; Conclusion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7909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4B5563"/>
                </a:solidFill>
                <a:latin typeface="Aptos"/>
              </a:defRPr>
            </a:pPr>
            <a:r>
              <a:rPr dirty="0"/>
              <a:t>The framework discovers hidden reactor states and converts them into readable local laws.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595628"/>
            <a:ext cx="10308336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1888236"/>
            <a:ext cx="411480" cy="41148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1979676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1642909"/>
            <a:ext cx="37673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30" b="1">
                <a:solidFill>
                  <a:srgbClr val="111827"/>
                </a:solidFill>
                <a:latin typeface="Aptos"/>
              </a:defRPr>
            </a:pPr>
            <a:r>
              <a:rPr lang="en-IN" sz="1600" b="1" dirty="0"/>
              <a:t>1. Physics-Consistent Reactor Dataset</a:t>
            </a:r>
            <a:endParaRPr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278580" y="1976959"/>
            <a:ext cx="92948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30" b="0">
                <a:solidFill>
                  <a:srgbClr val="4B5563"/>
                </a:solidFill>
                <a:latin typeface="Aptos"/>
              </a:defRPr>
            </a:pPr>
            <a:r>
              <a:rPr lang="en-US" sz="1700" dirty="0"/>
              <a:t>Built a validated </a:t>
            </a:r>
            <a:r>
              <a:rPr lang="en-US" sz="1700" dirty="0" err="1"/>
              <a:t>Chylla</a:t>
            </a:r>
            <a:r>
              <a:rPr lang="en-US" sz="1700" dirty="0"/>
              <a:t>–Haase semi batch reactor dataset using energy balance, mass balance, reaction heat, cooling, viscosity, and valve dynamics.</a:t>
            </a:r>
            <a:endParaRPr sz="1700" dirty="0"/>
          </a:p>
        </p:txBody>
      </p:sp>
      <p:sp>
        <p:nvSpPr>
          <p:cNvPr id="17" name="Rounded Rectangle 16"/>
          <p:cNvSpPr/>
          <p:nvPr/>
        </p:nvSpPr>
        <p:spPr>
          <a:xfrm>
            <a:off x="566928" y="3945636"/>
            <a:ext cx="10308336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4238244"/>
            <a:ext cx="411480" cy="41148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29684"/>
            <a:ext cx="411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3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316736" y="4125318"/>
            <a:ext cx="3767328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30" b="1">
                <a:solidFill>
                  <a:srgbClr val="111827"/>
                </a:solidFill>
                <a:latin typeface="Aptos"/>
              </a:defRPr>
            </a:pPr>
            <a:r>
              <a:rPr lang="en-IN" sz="1700" b="1" dirty="0"/>
              <a:t>3. Local Symbolic Law Learning</a:t>
            </a:r>
            <a:endParaRPr sz="1700" dirty="0"/>
          </a:p>
        </p:txBody>
      </p:sp>
      <p:sp>
        <p:nvSpPr>
          <p:cNvPr id="21" name="TextBox 20"/>
          <p:cNvSpPr txBox="1"/>
          <p:nvPr/>
        </p:nvSpPr>
        <p:spPr>
          <a:xfrm>
            <a:off x="1316736" y="4402836"/>
            <a:ext cx="9427464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30" b="0">
                <a:solidFill>
                  <a:srgbClr val="4B5563"/>
                </a:solidFill>
                <a:latin typeface="Aptos"/>
              </a:defRPr>
            </a:pPr>
            <a:r>
              <a:rPr lang="en-US" sz="1700" dirty="0"/>
              <a:t>Used symbolic regression to learn separate readable equations for each discovered regime, improving prediction over one global law.</a:t>
            </a:r>
            <a:endParaRPr sz="1700" dirty="0"/>
          </a:p>
        </p:txBody>
      </p:sp>
      <p:sp>
        <p:nvSpPr>
          <p:cNvPr id="22" name="Rounded Rectangle 21"/>
          <p:cNvSpPr/>
          <p:nvPr/>
        </p:nvSpPr>
        <p:spPr>
          <a:xfrm>
            <a:off x="566928" y="2779356"/>
            <a:ext cx="10308336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071963"/>
            <a:ext cx="411480" cy="41148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163404"/>
            <a:ext cx="411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2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278580" y="2917183"/>
            <a:ext cx="37673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30" b="1">
                <a:solidFill>
                  <a:srgbClr val="111827"/>
                </a:solidFill>
                <a:latin typeface="Aptos"/>
              </a:defRPr>
            </a:pPr>
            <a:r>
              <a:rPr lang="en-IN" sz="1600" b="1" dirty="0"/>
              <a:t>2. Hidden Regime Discovery</a:t>
            </a:r>
            <a:endParaRPr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1316736" y="3250647"/>
            <a:ext cx="9256664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30" b="0">
                <a:solidFill>
                  <a:srgbClr val="4B5563"/>
                </a:solidFill>
                <a:latin typeface="Aptos"/>
              </a:defRPr>
            </a:pPr>
            <a:r>
              <a:rPr lang="en-US" sz="1700" dirty="0"/>
              <a:t>Developed a physics-informed Mamba-based framework that discovers hidden operating regimes from reactor time-series behavior.</a:t>
            </a:r>
            <a:endParaRPr sz="1700" dirty="0"/>
          </a:p>
        </p:txBody>
      </p:sp>
      <p:sp>
        <p:nvSpPr>
          <p:cNvPr id="32" name="Rounded Rectangle 31"/>
          <p:cNvSpPr/>
          <p:nvPr/>
        </p:nvSpPr>
        <p:spPr>
          <a:xfrm>
            <a:off x="749808" y="5516843"/>
            <a:ext cx="740664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4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7" y="5222118"/>
            <a:ext cx="1437979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80" b="1">
                <a:solidFill>
                  <a:srgbClr val="F97316"/>
                </a:solidFill>
                <a:latin typeface="Aptos"/>
              </a:defRPr>
            </a:pPr>
            <a:r>
              <a:rPr sz="1900" dirty="0"/>
              <a:t>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" y="5750349"/>
            <a:ext cx="687628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80" b="1">
                <a:solidFill>
                  <a:srgbClr val="111827"/>
                </a:solidFill>
                <a:latin typeface="Aptos"/>
              </a:defRPr>
            </a:pPr>
            <a:r>
              <a:rPr lang="en-US" sz="1600" dirty="0"/>
              <a:t>This work shows that physics-informed AI can discover hidden reactor states and convert them into interpretable local symbolic laws.</a:t>
            </a:r>
            <a:endParaRPr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9235440" y="59618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700" b="1">
                <a:solidFill>
                  <a:srgbClr val="0B1F33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681</Words>
  <Application>Microsoft Office PowerPoint</Application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Asifa S</dc:creator>
  <cp:keywords/>
  <dc:description>generated using python-pptx</dc:description>
  <cp:lastModifiedBy>S Asifa</cp:lastModifiedBy>
  <cp:revision>3</cp:revision>
  <dcterms:created xsi:type="dcterms:W3CDTF">2013-01-27T09:14:16Z</dcterms:created>
  <dcterms:modified xsi:type="dcterms:W3CDTF">2026-07-31T14:37:50Z</dcterms:modified>
  <cp:category/>
</cp:coreProperties>
</file>